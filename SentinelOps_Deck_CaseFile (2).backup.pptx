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of the file. Five agents through Band, zero autonomous decisions, the human signs. Name the three partners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person. Amara is under-resourced against a deadline. One model can't hold five conflicting perspectives — you need a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in one line: Analyst maps and broadcasts through Band; Devil's Advocate and Precedent run in parallel; Risk scores; Briefing writes; the human decides. Say 'through Band' at the fork.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Judging-critical. Name all three Band capabilities: parallel broadcast, shared room context, observable audit trail. Stress the audit trail is downloadable — the Track 3 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Originality + partner point. Three LLM frameworks — httpx, LangChain, OpenAI SDK — coordinate in one Band room. AI/ML API powers four agents; Featherless is Precedent's primary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Proof. Walk the four findings — board resolution, rejected vendor, hidden lock-in, liability cap. The stamp lands the verdict; the system recommended but did not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scenarios from one architecture proves it's a platform. The agent disagreement shows independent perspectives, not puppets — the originality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wins Track 3 — no other team demos a downloadable, compliance-ready audit trail. Say 'zero autonomous decisions.' The signature line makes human authority literal.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all three partners once more. Featherless is Precedent's primary provider on Qwen3-30B-A3B. Three frameworks coordinate through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'The human decides' is the last line. Repeat $2.4M, zero autonomous decisions. Point to repo and demo. Confirm names and live URL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— DECISION 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82335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3 · CASE NO. SO-2026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2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Sentinel</a:t>
            </a:r>
            <a:pPr indent="0" marL="0">
              <a:buNone/>
            </a:pPr>
            <a:r>
              <a:rPr lang="en-US" sz="7800" b="1" dirty="0">
                <a:solidFill>
                  <a:srgbClr val="E0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Ops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822960" y="3456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7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Decision Intelligence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AI agents. One coordinated team. </a:t>
            </a:r>
            <a:pPr indent="0" marL="0">
              <a:buNone/>
            </a:pPr>
            <a:r>
              <a:rPr lang="en-US" sz="1800" b="1" i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days.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8A8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   ·   AI/ML API   ·   FEATHERLESS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-420000">
            <a:off x="8869680" y="406908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FFFFFF">
              <a:alpha val="0"/>
            </a:srgbClr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 rot="-420000">
            <a:off x="8869680" y="40690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REVIEW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A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A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66344"/>
            <a:ext cx="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466344"/>
            <a:ext cx="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0" y="466344"/>
            <a:ext cx="-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466344"/>
            <a:ext cx="-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64804" y="636939"/>
            <a:ext cx="-89687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64804" y="636939"/>
            <a:ext cx="-379922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64804" y="636939"/>
            <a:ext cx="-469609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75117" y="912969"/>
            <a:ext cx="-290234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75117" y="912969"/>
            <a:ext cx="-379922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84883" y="912969"/>
            <a:ext cx="-89687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95710" y="432054"/>
            <a:ext cx="68580" cy="68580"/>
          </a:xfrm>
          <a:prstGeom prst="ellipse">
            <a:avLst/>
          </a:prstGeom>
          <a:solidFill>
            <a:srgbClr val="1F6FD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30514" y="602649"/>
            <a:ext cx="68580" cy="685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40827" y="878679"/>
            <a:ext cx="68580" cy="68580"/>
          </a:xfrm>
          <a:prstGeom prst="ellipse">
            <a:avLst/>
          </a:prstGeom>
          <a:solidFill>
            <a:srgbClr val="7A3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50593" y="878679"/>
            <a:ext cx="68580" cy="68580"/>
          </a:xfrm>
          <a:prstGeom prst="ellipse">
            <a:avLst/>
          </a:prstGeom>
          <a:solidFill>
            <a:srgbClr val="B96A1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60906" y="602649"/>
            <a:ext cx="68580" cy="68580"/>
          </a:xfrm>
          <a:prstGeom prst="ellipse">
            <a:avLst/>
          </a:prstGeom>
          <a:solidFill>
            <a:srgbClr val="0E8A6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32"/>
              </a:lnSpc>
              <a:buNone/>
            </a:pPr>
            <a:r>
              <a:rPr lang="en-US" sz="33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 hours to sign. 74 pages to read.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822960" y="2286000"/>
            <a:ext cx="6126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 Diallo, VP of Legal at Meridian Ventures, has 48 hours to sign a $1.8M partnership. Cross-referencing ten sections against company history, board resolutions, and financial benchmarks takes a team a week.
</a:t>
            </a:r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isn't careless — she's under-resourced against a deadline.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ONE WEEK OF WORK. TWO DAYS ON THE CLOCK.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49834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can't be neutral, adversarial, and historically aware at once. High-stakes decisions need a team of perspectives — before a human signs.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55280" y="22402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$1.8M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991856" y="2843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 VALUE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55280" y="33375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991856" y="3941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 OF CLAUSES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55280" y="44348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 hrs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7991856" y="5038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DECIDE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66344"/>
            <a:ext cx="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466344"/>
            <a:ext cx="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0" y="466344"/>
            <a:ext cx="-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466344"/>
            <a:ext cx="-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64804" y="636939"/>
            <a:ext cx="-89687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64804" y="636939"/>
            <a:ext cx="-379922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64804" y="636939"/>
            <a:ext cx="-469609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75117" y="912969"/>
            <a:ext cx="-290234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75117" y="912969"/>
            <a:ext cx="-379922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84883" y="912969"/>
            <a:ext cx="-89687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95710" y="432054"/>
            <a:ext cx="68580" cy="68580"/>
          </a:xfrm>
          <a:prstGeom prst="ellipse">
            <a:avLst/>
          </a:prstGeom>
          <a:solidFill>
            <a:srgbClr val="1F6FD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30514" y="602649"/>
            <a:ext cx="68580" cy="685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40827" y="878679"/>
            <a:ext cx="68580" cy="68580"/>
          </a:xfrm>
          <a:prstGeom prst="ellipse">
            <a:avLst/>
          </a:prstGeom>
          <a:solidFill>
            <a:srgbClr val="7A3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50593" y="878679"/>
            <a:ext cx="68580" cy="68580"/>
          </a:xfrm>
          <a:prstGeom prst="ellipse">
            <a:avLst/>
          </a:prstGeom>
          <a:solidFill>
            <a:srgbClr val="B96A1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60906" y="602649"/>
            <a:ext cx="68580" cy="68580"/>
          </a:xfrm>
          <a:prstGeom prst="ellipse">
            <a:avLst/>
          </a:prstGeom>
          <a:solidFill>
            <a:srgbClr val="0E8A6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specialists. One room. One brief.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822960" y="175564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SentinelOps deploys five agents through Band — each with a distinct role, voice, and reasoning style. They review the document from five angles at once and deliver a quantified brief with a downloadable audit trail.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600200" y="4526280"/>
            <a:ext cx="1554480" cy="-822960"/>
          </a:xfrm>
          <a:prstGeom prst="line">
            <a:avLst/>
          </a:prstGeom>
          <a:noFill/>
          <a:ln w="25400">
            <a:solidFill>
              <a:srgbClr val="1F6F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4526280"/>
            <a:ext cx="1554480" cy="822960"/>
          </a:xfrm>
          <a:prstGeom prst="line">
            <a:avLst/>
          </a:prstGeom>
          <a:noFill/>
          <a:ln w="25400">
            <a:solidFill>
              <a:srgbClr val="1F6F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86200" y="3703320"/>
            <a:ext cx="1920240" cy="82296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86200" y="5349240"/>
            <a:ext cx="1920240" cy="-822960"/>
          </a:xfrm>
          <a:prstGeom prst="line">
            <a:avLst/>
          </a:prstGeom>
          <a:noFill/>
          <a:ln w="25400">
            <a:solidFill>
              <a:srgbClr val="7A37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4526280"/>
            <a:ext cx="1371600" cy="0"/>
          </a:xfrm>
          <a:prstGeom prst="line">
            <a:avLst/>
          </a:prstGeom>
          <a:noFill/>
          <a:ln w="25400">
            <a:solidFill>
              <a:srgbClr val="B96A1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41080" y="4526280"/>
            <a:ext cx="1463040" cy="0"/>
          </a:xfrm>
          <a:prstGeom prst="line">
            <a:avLst/>
          </a:prstGeom>
          <a:noFill/>
          <a:ln w="25400">
            <a:solidFill>
              <a:srgbClr val="0E8A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4160520"/>
            <a:ext cx="731520" cy="731520"/>
          </a:xfrm>
          <a:prstGeom prst="ellipse">
            <a:avLst/>
          </a:prstGeom>
          <a:solidFill>
            <a:srgbClr val="1F6FD6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1605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0040" y="4946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54680" y="3337560"/>
            <a:ext cx="731520" cy="731520"/>
          </a:xfrm>
          <a:prstGeom prst="ellipse">
            <a:avLst/>
          </a:prstGeom>
          <a:solidFill>
            <a:srgbClr val="C8102E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926080" y="33375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606040" y="4123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DEVIL'S ADV.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54680" y="4983480"/>
            <a:ext cx="731520" cy="731520"/>
          </a:xfrm>
          <a:prstGeom prst="ellipse">
            <a:avLst/>
          </a:prstGeom>
          <a:solidFill>
            <a:srgbClr val="7A37D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926080" y="49834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606040" y="5769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PRECEDENT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06440" y="4160520"/>
            <a:ext cx="731520" cy="731520"/>
          </a:xfrm>
          <a:prstGeom prst="ellipse">
            <a:avLst/>
          </a:prstGeom>
          <a:solidFill>
            <a:srgbClr val="B96A12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577840" y="41605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257800" y="4946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09560" y="4160520"/>
            <a:ext cx="731520" cy="731520"/>
          </a:xfrm>
          <a:prstGeom prst="ellipse">
            <a:avLst/>
          </a:prstGeom>
          <a:solidFill>
            <a:srgbClr val="0E8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680960" y="41605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360920" y="4946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104120" y="4160520"/>
            <a:ext cx="731520" cy="731520"/>
          </a:xfrm>
          <a:prstGeom prst="ellipse">
            <a:avLst/>
          </a:prstGeom>
          <a:solidFill>
            <a:srgbClr val="F2F0E9"/>
          </a:solidFill>
          <a:ln w="31750">
            <a:solidFill>
              <a:srgbClr val="1B1B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0" y="41605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555480" y="4946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DECIDES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88920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 BAND — PARALLEL BROADCAST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66344"/>
            <a:ext cx="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466344"/>
            <a:ext cx="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0" y="466344"/>
            <a:ext cx="-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466344"/>
            <a:ext cx="-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64804" y="636939"/>
            <a:ext cx="-89687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64804" y="636939"/>
            <a:ext cx="-379922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64804" y="636939"/>
            <a:ext cx="-469609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75117" y="912969"/>
            <a:ext cx="-290234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75117" y="912969"/>
            <a:ext cx="-379922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84883" y="912969"/>
            <a:ext cx="-89687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95710" y="432054"/>
            <a:ext cx="68580" cy="68580"/>
          </a:xfrm>
          <a:prstGeom prst="ellipse">
            <a:avLst/>
          </a:prstGeom>
          <a:solidFill>
            <a:srgbClr val="1F6FD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30514" y="602649"/>
            <a:ext cx="68580" cy="685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40827" y="878679"/>
            <a:ext cx="68580" cy="68580"/>
          </a:xfrm>
          <a:prstGeom prst="ellipse">
            <a:avLst/>
          </a:prstGeom>
          <a:solidFill>
            <a:srgbClr val="7A3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50593" y="878679"/>
            <a:ext cx="68580" cy="68580"/>
          </a:xfrm>
          <a:prstGeom prst="ellipse">
            <a:avLst/>
          </a:prstGeom>
          <a:solidFill>
            <a:srgbClr val="B96A1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60906" y="602649"/>
            <a:ext cx="68580" cy="68580"/>
          </a:xfrm>
          <a:prstGeom prst="ellipse">
            <a:avLst/>
          </a:prstGeom>
          <a:solidFill>
            <a:srgbClr val="0E8A6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— THE COORDINATION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9144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Band </a:t>
            </a:r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is what makes</a:t>
            </a:r>
            <a:endParaRPr lang="en-US" sz="3100" dirty="0"/>
          </a:p>
          <a:p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them a team.</a:t>
            </a:r>
            <a:endParaRPr lang="en-US" sz="3100" dirty="0"/>
          </a:p>
        </p:txBody>
      </p:sp>
      <p:sp>
        <p:nvSpPr>
          <p:cNvPr id="19" name="Shape 17"/>
          <p:cNvSpPr/>
          <p:nvPr/>
        </p:nvSpPr>
        <p:spPr>
          <a:xfrm>
            <a:off x="822960" y="3017520"/>
            <a:ext cx="201168" cy="201168"/>
          </a:xfrm>
          <a:prstGeom prst="rect">
            <a:avLst/>
          </a:prstGeom>
          <a:solidFill>
            <a:srgbClr val="1F6FD6"/>
          </a:solidFill>
          <a:ln/>
        </p:spPr>
      </p:sp>
      <p:sp>
        <p:nvSpPr>
          <p:cNvPr id="20" name="Text 18"/>
          <p:cNvSpPr/>
          <p:nvPr/>
        </p:nvSpPr>
        <p:spPr>
          <a:xfrm>
            <a:off x="1207008" y="2971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Parallel broadcast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07008" y="337413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posts once; Devil's Advocate and Precedent activate simultaneously. 2× faster than sequential review.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3931920"/>
            <a:ext cx="201168" cy="201168"/>
          </a:xfrm>
          <a:prstGeom prst="rect">
            <a:avLst/>
          </a:prstGeom>
          <a:solidFill>
            <a:srgbClr val="B96A12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3886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Shared room context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7008" y="428853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waits in the same room until both reviewers finish. Natural sync — no orchestration code.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4846320"/>
            <a:ext cx="201168" cy="201168"/>
          </a:xfrm>
          <a:prstGeom prst="rect">
            <a:avLst/>
          </a:prstGeom>
          <a:solidFill>
            <a:srgbClr val="0E8A63"/>
          </a:solidFill>
          <a:ln/>
        </p:spPr>
      </p:sp>
      <p:sp>
        <p:nvSpPr>
          <p:cNvPr id="26" name="Text 24"/>
          <p:cNvSpPr/>
          <p:nvPr/>
        </p:nvSpPr>
        <p:spPr>
          <a:xfrm>
            <a:off x="1207008" y="4800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Observable audit trail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07008" y="520293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Band message is logged, timestamped, and downloadable. The traceability Track 3 demands.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784080" y="3611880"/>
            <a:ext cx="0" cy="-1298448"/>
          </a:xfrm>
          <a:prstGeom prst="line">
            <a:avLst/>
          </a:prstGeom>
          <a:noFill/>
          <a:ln w="15875">
            <a:solidFill>
              <a:srgbClr val="D2D0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4080" y="3611880"/>
            <a:ext cx="1234897" cy="-401242"/>
          </a:xfrm>
          <a:prstGeom prst="line">
            <a:avLst/>
          </a:prstGeom>
          <a:noFill/>
          <a:ln w="15875">
            <a:solidFill>
              <a:srgbClr val="D2D0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84080" y="3611880"/>
            <a:ext cx="763209" cy="1050466"/>
          </a:xfrm>
          <a:prstGeom prst="line">
            <a:avLst/>
          </a:prstGeom>
          <a:noFill/>
          <a:ln w="15875">
            <a:solidFill>
              <a:srgbClr val="D2D0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84080" y="3611880"/>
            <a:ext cx="-763209" cy="1050466"/>
          </a:xfrm>
          <a:prstGeom prst="line">
            <a:avLst/>
          </a:prstGeom>
          <a:noFill/>
          <a:ln w="15875">
            <a:solidFill>
              <a:srgbClr val="D2D0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0" y="3611880"/>
            <a:ext cx="-1234897" cy="-401242"/>
          </a:xfrm>
          <a:prstGeom prst="line">
            <a:avLst/>
          </a:prstGeom>
          <a:noFill/>
          <a:ln w="15875">
            <a:solidFill>
              <a:srgbClr val="D2D0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2313432"/>
            <a:ext cx="1234897" cy="897206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2313432"/>
            <a:ext cx="763209" cy="2348914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2313432"/>
            <a:ext cx="-763209" cy="2348914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84080" y="2313432"/>
            <a:ext cx="-1234897" cy="897206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018977" y="3210638"/>
            <a:ext cx="-471689" cy="1451709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18977" y="3210638"/>
            <a:ext cx="-1998106" cy="1451709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018977" y="3210638"/>
            <a:ext cx="-2469795" cy="0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547289" y="4662346"/>
            <a:ext cx="-1526417" cy="0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47289" y="4662346"/>
            <a:ext cx="-1998106" cy="-1451709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20871" y="4662346"/>
            <a:ext cx="-471689" cy="-1451709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28632" y="3456432"/>
            <a:ext cx="310896" cy="310896"/>
          </a:xfrm>
          <a:prstGeom prst="ellipse">
            <a:avLst/>
          </a:prstGeom>
          <a:solidFill>
            <a:srgbClr val="1B1B22"/>
          </a:solidFill>
          <a:ln/>
        </p:spPr>
      </p:sp>
      <p:sp>
        <p:nvSpPr>
          <p:cNvPr id="44" name="Shape 42"/>
          <p:cNvSpPr/>
          <p:nvPr/>
        </p:nvSpPr>
        <p:spPr>
          <a:xfrm>
            <a:off x="9601200" y="2130552"/>
            <a:ext cx="365760" cy="365760"/>
          </a:xfrm>
          <a:prstGeom prst="ellipse">
            <a:avLst/>
          </a:prstGeom>
          <a:solidFill>
            <a:srgbClr val="1F6FD6"/>
          </a:solidFill>
          <a:ln/>
        </p:spPr>
      </p:sp>
      <p:sp>
        <p:nvSpPr>
          <p:cNvPr id="45" name="Text 43"/>
          <p:cNvSpPr/>
          <p:nvPr/>
        </p:nvSpPr>
        <p:spPr>
          <a:xfrm>
            <a:off x="9326880" y="2203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836097" y="3027758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47" name="Text 45"/>
          <p:cNvSpPr/>
          <p:nvPr/>
        </p:nvSpPr>
        <p:spPr>
          <a:xfrm>
            <a:off x="10561777" y="310091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364409" y="4479466"/>
            <a:ext cx="365760" cy="365760"/>
          </a:xfrm>
          <a:prstGeom prst="ellipse">
            <a:avLst/>
          </a:prstGeom>
          <a:solidFill>
            <a:srgbClr val="7A37D8"/>
          </a:solidFill>
          <a:ln/>
        </p:spPr>
      </p:sp>
      <p:sp>
        <p:nvSpPr>
          <p:cNvPr id="49" name="Text 47"/>
          <p:cNvSpPr/>
          <p:nvPr/>
        </p:nvSpPr>
        <p:spPr>
          <a:xfrm>
            <a:off x="10090089" y="455261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837991" y="4479466"/>
            <a:ext cx="365760" cy="365760"/>
          </a:xfrm>
          <a:prstGeom prst="ellipse">
            <a:avLst/>
          </a:prstGeom>
          <a:solidFill>
            <a:srgbClr val="B96A12"/>
          </a:solidFill>
          <a:ln/>
        </p:spPr>
      </p:sp>
      <p:sp>
        <p:nvSpPr>
          <p:cNvPr id="51" name="Text 49"/>
          <p:cNvSpPr/>
          <p:nvPr/>
        </p:nvSpPr>
        <p:spPr>
          <a:xfrm>
            <a:off x="8563671" y="455261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366303" y="3027758"/>
            <a:ext cx="365760" cy="365760"/>
          </a:xfrm>
          <a:prstGeom prst="ellipse">
            <a:avLst/>
          </a:prstGeom>
          <a:solidFill>
            <a:srgbClr val="0E8A63"/>
          </a:solidFill>
          <a:ln/>
        </p:spPr>
      </p:sp>
      <p:sp>
        <p:nvSpPr>
          <p:cNvPr id="53" name="Text 51"/>
          <p:cNvSpPr/>
          <p:nvPr/>
        </p:nvSpPr>
        <p:spPr>
          <a:xfrm>
            <a:off x="8091983" y="310091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22960" y="58978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D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Remove Band </a:t>
            </a:r>
            <a:pPr indent="0" marL="0">
              <a:buNone/>
            </a:pPr>
            <a:r>
              <a:rPr lang="en-US" sz="1500" b="1" i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 SentinelOps is five scripts in a for-loop.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66344"/>
            <a:ext cx="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466344"/>
            <a:ext cx="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0" y="466344"/>
            <a:ext cx="-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466344"/>
            <a:ext cx="-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64804" y="636939"/>
            <a:ext cx="-89687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64804" y="636939"/>
            <a:ext cx="-379922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64804" y="636939"/>
            <a:ext cx="-469609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75117" y="912969"/>
            <a:ext cx="-290234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75117" y="912969"/>
            <a:ext cx="-379922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84883" y="912969"/>
            <a:ext cx="-89687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95710" y="432054"/>
            <a:ext cx="68580" cy="68580"/>
          </a:xfrm>
          <a:prstGeom prst="ellipse">
            <a:avLst/>
          </a:prstGeom>
          <a:solidFill>
            <a:srgbClr val="1F6FD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30514" y="602649"/>
            <a:ext cx="68580" cy="685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40827" y="878679"/>
            <a:ext cx="68580" cy="68580"/>
          </a:xfrm>
          <a:prstGeom prst="ellipse">
            <a:avLst/>
          </a:prstGeom>
          <a:solidFill>
            <a:srgbClr val="7A3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50593" y="878679"/>
            <a:ext cx="68580" cy="68580"/>
          </a:xfrm>
          <a:prstGeom prst="ellipse">
            <a:avLst/>
          </a:prstGeom>
          <a:solidFill>
            <a:srgbClr val="B96A1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60906" y="602649"/>
            <a:ext cx="68580" cy="68580"/>
          </a:xfrm>
          <a:prstGeom prst="ellipse">
            <a:avLst/>
          </a:prstGeom>
          <a:solidFill>
            <a:srgbClr val="0E8A6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CROSS-FRAMEWORK ARCHITECTURE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frameworks. One Band room.</a:t>
            </a:r>
            <a:endParaRPr lang="en-US" sz="3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577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468880"/>
                <a:gridCol w="3200400"/>
                <a:gridCol w="2697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provider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6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E6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Mapper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httpx · ResilientAdapter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Devil's Advocate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E6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Challenger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A37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Precedent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E6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Historian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SDK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A37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Featherless AI · primary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96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E6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Scorer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httpx · ResilientAdapter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8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E6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Communicator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httpx · ResilientAdapter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822960" y="57607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coordinates agents regardless of framework — three integration patterns, one coordination layer.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66344"/>
            <a:ext cx="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466344"/>
            <a:ext cx="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0" y="466344"/>
            <a:ext cx="-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466344"/>
            <a:ext cx="-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64804" y="636939"/>
            <a:ext cx="-89687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64804" y="636939"/>
            <a:ext cx="-379922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64804" y="636939"/>
            <a:ext cx="-469609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75117" y="912969"/>
            <a:ext cx="-290234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75117" y="912969"/>
            <a:ext cx="-379922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84883" y="912969"/>
            <a:ext cx="-89687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95710" y="432054"/>
            <a:ext cx="68580" cy="68580"/>
          </a:xfrm>
          <a:prstGeom prst="ellipse">
            <a:avLst/>
          </a:prstGeom>
          <a:solidFill>
            <a:srgbClr val="1F6FD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30514" y="602649"/>
            <a:ext cx="68580" cy="685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40827" y="878679"/>
            <a:ext cx="68580" cy="68580"/>
          </a:xfrm>
          <a:prstGeom prst="ellipse">
            <a:avLst/>
          </a:prstGeom>
          <a:solidFill>
            <a:srgbClr val="7A3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50593" y="878679"/>
            <a:ext cx="68580" cy="68580"/>
          </a:xfrm>
          <a:prstGeom prst="ellipse">
            <a:avLst/>
          </a:prstGeom>
          <a:solidFill>
            <a:srgbClr val="B96A1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60906" y="602649"/>
            <a:ext cx="68580" cy="68580"/>
          </a:xfrm>
          <a:prstGeom prst="ellipse">
            <a:avLst/>
          </a:prstGeom>
          <a:solidFill>
            <a:srgbClr val="0E8A6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A — $1.8M GLOBALTECH PARTNERSHIP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20"/>
              </a:lnSpc>
              <a:buNone/>
            </a:pPr>
            <a:r>
              <a:rPr lang="en-US" sz="30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 read all 74 pages. Then it said no.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50392" y="2240280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1170432" y="21945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resolution BRD-2023-47 violated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70432" y="24963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IP transfer to GlobalTech — §4.1, p.27.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50392" y="2990088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1170432" y="29443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rejected 12 months ago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70432" y="32461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penalty clauses and declining performance, unchanged.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50392" y="3739896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1170432" y="36941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year lock-in, hidden in plain sight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70432" y="399592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 and §9.4 — 33 pages apart — combine into exclusivity.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50392" y="4489704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9" name="Text 27"/>
          <p:cNvSpPr/>
          <p:nvPr/>
        </p:nvSpPr>
        <p:spPr>
          <a:xfrm>
            <a:off x="1170432" y="444398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liability cap on a $1.8M deal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70432" y="474573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27.8% coverage of the contract value.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92440" y="21031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$2.42M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8119872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FINANCIAL EXPOSURE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19872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 / 10  </a:t>
            </a:r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 rot="-540000">
            <a:off x="7772400" y="4114800"/>
            <a:ext cx="3840480" cy="1234440"/>
          </a:xfrm>
          <a:prstGeom prst="roundRect">
            <a:avLst>
              <a:gd name="adj" fmla="val 3704"/>
            </a:avLst>
          </a:prstGeom>
          <a:solidFill>
            <a:srgbClr val="FFFFFF">
              <a:alpha val="0"/>
            </a:srgbClr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 rot="-540000">
            <a:off x="7772400" y="41148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SIGN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66344"/>
            <a:ext cx="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466344"/>
            <a:ext cx="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0" y="466344"/>
            <a:ext cx="-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466344"/>
            <a:ext cx="-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64804" y="636939"/>
            <a:ext cx="-89687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64804" y="636939"/>
            <a:ext cx="-379922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64804" y="636939"/>
            <a:ext cx="-469609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75117" y="912969"/>
            <a:ext cx="-290234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75117" y="912969"/>
            <a:ext cx="-379922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84883" y="912969"/>
            <a:ext cx="-89687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95710" y="432054"/>
            <a:ext cx="68580" cy="68580"/>
          </a:xfrm>
          <a:prstGeom prst="ellipse">
            <a:avLst/>
          </a:prstGeom>
          <a:solidFill>
            <a:srgbClr val="1F6FD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30514" y="602649"/>
            <a:ext cx="68580" cy="685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40827" y="878679"/>
            <a:ext cx="68580" cy="68580"/>
          </a:xfrm>
          <a:prstGeom prst="ellipse">
            <a:avLst/>
          </a:prstGeom>
          <a:solidFill>
            <a:srgbClr val="7A3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50593" y="878679"/>
            <a:ext cx="68580" cy="68580"/>
          </a:xfrm>
          <a:prstGeom prst="ellipse">
            <a:avLst/>
          </a:prstGeom>
          <a:solidFill>
            <a:srgbClr val="B96A1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60906" y="602649"/>
            <a:ext cx="68580" cy="68580"/>
          </a:xfrm>
          <a:prstGeom prst="ellipse">
            <a:avLst/>
          </a:prstGeom>
          <a:solidFill>
            <a:srgbClr val="0E8A6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B — CLOUD VENDOR SELECTION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Same architecture. The agents disagree.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822960" y="17373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Webb must choose between three cloud vendors. The board mandated 99.99% uptime after a $210K outage.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256032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BFAF6"/>
          </a:solidFill>
          <a:ln w="12700">
            <a:solidFill>
              <a:srgbClr val="D9D7C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43000" y="2743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Stratos Cloud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52628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E8A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143000" y="32918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— best SLA and fixed pricing, subject to four specific conditions for safe selection.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256032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BFAF6"/>
          </a:solidFill>
          <a:ln w="12700">
            <a:solidFill>
              <a:srgbClr val="D9D7C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2743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Apex Systems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96696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8.9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583680" y="32918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$34K billing dispute in company history, and no financial SLA accountability.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461772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 disagree: 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Devil's Advocate champions Stratos for its SLA; Risk flags a 47-person company with proprietary lock-in. Briefing synthesizes both into a conditional recommendation. </a:t>
            </a:r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0E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avoided: $710,000.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66344"/>
            <a:ext cx="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466344"/>
            <a:ext cx="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0" y="466344"/>
            <a:ext cx="-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466344"/>
            <a:ext cx="-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64804" y="636939"/>
            <a:ext cx="-89687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64804" y="636939"/>
            <a:ext cx="-379922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64804" y="636939"/>
            <a:ext cx="-469609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75117" y="912969"/>
            <a:ext cx="-290234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75117" y="912969"/>
            <a:ext cx="-379922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84883" y="912969"/>
            <a:ext cx="-89687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95710" y="432054"/>
            <a:ext cx="68580" cy="68580"/>
          </a:xfrm>
          <a:prstGeom prst="ellipse">
            <a:avLst/>
          </a:prstGeom>
          <a:solidFill>
            <a:srgbClr val="1F6FD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30514" y="602649"/>
            <a:ext cx="68580" cy="685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40827" y="878679"/>
            <a:ext cx="68580" cy="68580"/>
          </a:xfrm>
          <a:prstGeom prst="ellipse">
            <a:avLst/>
          </a:prstGeom>
          <a:solidFill>
            <a:srgbClr val="7A3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50593" y="878679"/>
            <a:ext cx="68580" cy="68580"/>
          </a:xfrm>
          <a:prstGeom prst="ellipse">
            <a:avLst/>
          </a:prstGeom>
          <a:solidFill>
            <a:srgbClr val="B96A1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60906" y="602649"/>
            <a:ext cx="68580" cy="68580"/>
          </a:xfrm>
          <a:prstGeom prst="ellipse">
            <a:avLst/>
          </a:prstGeom>
          <a:solidFill>
            <a:srgbClr val="0E8A6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E8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3 — TRACEABILITY &amp; HUMAN AUTHORITY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C81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Zero </a:t>
            </a:r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autonomous decisions.</a:t>
            </a:r>
            <a:endParaRPr lang="en-US" sz="3100" dirty="0"/>
          </a:p>
        </p:txBody>
      </p:sp>
      <p:sp>
        <p:nvSpPr>
          <p:cNvPr id="19" name="Shape 17"/>
          <p:cNvSpPr/>
          <p:nvPr/>
        </p:nvSpPr>
        <p:spPr>
          <a:xfrm>
            <a:off x="822960" y="2194560"/>
            <a:ext cx="5090008" cy="1325880"/>
          </a:xfrm>
          <a:prstGeom prst="roundRect">
            <a:avLst>
              <a:gd name="adj" fmla="val 6207"/>
            </a:avLst>
          </a:prstGeom>
          <a:solidFill>
            <a:srgbClr val="FBFAF6"/>
          </a:solidFill>
          <a:ln w="12700">
            <a:solidFill>
              <a:srgbClr val="D9D7C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70432" y="2505456"/>
            <a:ext cx="164592" cy="164592"/>
          </a:xfrm>
          <a:prstGeom prst="rect">
            <a:avLst/>
          </a:prstGeom>
          <a:solidFill>
            <a:srgbClr val="E0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1426464" y="2414016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Downloadable audit trail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0432" y="2798064"/>
            <a:ext cx="439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flow, Band coordination log, all five agent reports, risk scores, and a compliance attestation — one click, as .txt.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78728" y="2194560"/>
            <a:ext cx="5090008" cy="1325880"/>
          </a:xfrm>
          <a:prstGeom prst="roundRect">
            <a:avLst>
              <a:gd name="adj" fmla="val 6207"/>
            </a:avLst>
          </a:prstGeom>
          <a:solidFill>
            <a:srgbClr val="FBFAF6"/>
          </a:solidFill>
          <a:ln w="12700">
            <a:solidFill>
              <a:srgbClr val="D9D7C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26200" y="2505456"/>
            <a:ext cx="164592" cy="164592"/>
          </a:xfrm>
          <a:prstGeom prst="rect">
            <a:avLst/>
          </a:prstGeom>
          <a:solidFill>
            <a:srgbClr val="1F6FD6"/>
          </a:solidFill>
          <a:ln/>
        </p:spPr>
      </p:sp>
      <p:sp>
        <p:nvSpPr>
          <p:cNvPr id="25" name="Text 23"/>
          <p:cNvSpPr/>
          <p:nvPr/>
        </p:nvSpPr>
        <p:spPr>
          <a:xfrm>
            <a:off x="6882232" y="2414016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Downloadable executive brief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6200" y="2798064"/>
            <a:ext cx="439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board-ready brief, exportable as a formatted PDF for distribution.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3794760"/>
            <a:ext cx="5090008" cy="1325880"/>
          </a:xfrm>
          <a:prstGeom prst="roundRect">
            <a:avLst>
              <a:gd name="adj" fmla="val 6207"/>
            </a:avLst>
          </a:prstGeom>
          <a:solidFill>
            <a:srgbClr val="FBFAF6"/>
          </a:solidFill>
          <a:ln w="12700">
            <a:solidFill>
              <a:srgbClr val="D9D7C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170432" y="4105656"/>
            <a:ext cx="164592" cy="164592"/>
          </a:xfrm>
          <a:prstGeom prst="rect">
            <a:avLst/>
          </a:prstGeom>
          <a:solidFill>
            <a:srgbClr val="7A37D8"/>
          </a:solidFill>
          <a:ln/>
        </p:spPr>
      </p:sp>
      <p:sp>
        <p:nvSpPr>
          <p:cNvPr id="29" name="Text 27"/>
          <p:cNvSpPr/>
          <p:nvPr/>
        </p:nvSpPr>
        <p:spPr>
          <a:xfrm>
            <a:off x="1426464" y="4014216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Human-in-the-loop follow-up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70432" y="4398264"/>
            <a:ext cx="439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pipeline completes, the decision-maker asks questions through Band; Briefing answers with full context.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78728" y="3794760"/>
            <a:ext cx="5090008" cy="1325880"/>
          </a:xfrm>
          <a:prstGeom prst="roundRect">
            <a:avLst>
              <a:gd name="adj" fmla="val 6207"/>
            </a:avLst>
          </a:prstGeom>
          <a:solidFill>
            <a:srgbClr val="FBFAF6"/>
          </a:solidFill>
          <a:ln w="12700">
            <a:solidFill>
              <a:srgbClr val="D9D7C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26200" y="4105656"/>
            <a:ext cx="164592" cy="164592"/>
          </a:xfrm>
          <a:prstGeom prst="rect">
            <a:avLst/>
          </a:prstGeom>
          <a:solidFill>
            <a:srgbClr val="0E8A63"/>
          </a:solidFill>
          <a:ln/>
        </p:spPr>
      </p:sp>
      <p:sp>
        <p:nvSpPr>
          <p:cNvPr id="33" name="Text 31"/>
          <p:cNvSpPr/>
          <p:nvPr/>
        </p:nvSpPr>
        <p:spPr>
          <a:xfrm>
            <a:off x="6882232" y="4014216"/>
            <a:ext cx="417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human decides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26200" y="4398264"/>
            <a:ext cx="439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commits, signs, or sends. The system recommends; authority stays with the human at every stage.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AUTHORIZED BY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0" y="5669280"/>
            <a:ext cx="4206240" cy="0"/>
          </a:xfrm>
          <a:prstGeom prst="line">
            <a:avLst/>
          </a:prstGeom>
          <a:noFill/>
          <a:ln w="15875">
            <a:solidFill>
              <a:srgbClr val="1B1B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54498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— at every stage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66344"/>
            <a:ext cx="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466344"/>
            <a:ext cx="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0" y="466344"/>
            <a:ext cx="-145117" cy="44662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466344"/>
            <a:ext cx="-234804" cy="170595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64804" y="636939"/>
            <a:ext cx="-89687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64804" y="636939"/>
            <a:ext cx="-379922" cy="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64804" y="636939"/>
            <a:ext cx="-469609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75117" y="912969"/>
            <a:ext cx="-290234" cy="0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75117" y="912969"/>
            <a:ext cx="-379922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84883" y="912969"/>
            <a:ext cx="-89687" cy="-276029"/>
          </a:xfrm>
          <a:prstGeom prst="line">
            <a:avLst/>
          </a:prstGeom>
          <a:noFill/>
          <a:ln w="6350">
            <a:solidFill>
              <a:srgbClr val="D6D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95710" y="432054"/>
            <a:ext cx="68580" cy="68580"/>
          </a:xfrm>
          <a:prstGeom prst="ellipse">
            <a:avLst/>
          </a:prstGeom>
          <a:solidFill>
            <a:srgbClr val="1F6FD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30514" y="602649"/>
            <a:ext cx="68580" cy="685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40827" y="878679"/>
            <a:ext cx="68580" cy="68580"/>
          </a:xfrm>
          <a:prstGeom prst="ellipse">
            <a:avLst/>
          </a:prstGeom>
          <a:solidFill>
            <a:srgbClr val="7A3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50593" y="878679"/>
            <a:ext cx="68580" cy="68580"/>
          </a:xfrm>
          <a:prstGeom prst="ellipse">
            <a:avLst/>
          </a:prstGeom>
          <a:solidFill>
            <a:srgbClr val="B96A1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60906" y="602649"/>
            <a:ext cx="68580" cy="68580"/>
          </a:xfrm>
          <a:prstGeom prst="ellipse">
            <a:avLst/>
          </a:prstGeom>
          <a:solidFill>
            <a:srgbClr val="0E8A6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E6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24"/>
              </a:lnSpc>
              <a:buNone/>
            </a:pPr>
            <a:r>
              <a:rPr lang="en-US" sz="31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on Band.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822960" y="219456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Band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41248" y="2788920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coordination — parallel broadcast, shared rooms, and an observable, downloadable audit trail.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60138" y="219456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A6B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AI/ML API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478426" y="2788920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for four agents: Analyst, Devil's Advocate, Risk &amp; Briefing.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97317" y="219456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37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Featherless AI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115605" y="2788920"/>
            <a:ext cx="31799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inference (Qwen3-30B-A3B) — primary provider for the Precedent Agent.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45720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frameworks, one room.  </a:t>
            </a:r>
            <a:pPr indent="0" marL="0">
              <a:buNone/>
            </a:pPr>
            <a:r>
              <a:rPr lang="en-US" sz="1500" dirty="0">
                <a:solidFill>
                  <a:srgbClr val="6E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· LangChain · OpenAI SDK — all coordinated through Band.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6A4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FILE CLOSES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368"/>
              </a:lnSpc>
              <a:buNone/>
            </a:pPr>
            <a:r>
              <a:rPr lang="en-US" sz="4200" b="1" dirty="0">
                <a:solidFill>
                  <a:srgbClr val="F2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system recommends.
</a:t>
            </a:r>
            <a:pPr indent="0" marL="0">
              <a:lnSpc>
                <a:spcPts val="4368"/>
              </a:lnSpc>
              <a:buNone/>
            </a:pPr>
            <a:r>
              <a:rPr lang="en-US" sz="4200" b="1" dirty="0">
                <a:solidFill>
                  <a:srgbClr val="E0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human decides.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A8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91840" y="3913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github.com/KaraboMolemworx/sentinelops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A8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DASHBOARD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91840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GitHub Pages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A8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91840" y="4828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— Regulated &amp; High-Stakes Workflows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303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A8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BY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5285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Karabo Matsepane &amp; Ziphezinhle Mqadi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8978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0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$2.4M found in minutes.  Zero autonomous decisions.  </a:t>
            </a:r>
            <a:pPr indent="0" marL="0">
              <a:buNone/>
            </a:pPr>
            <a:r>
              <a:rPr lang="en-US" sz="1600" b="1" i="1" dirty="0">
                <a:solidFill>
                  <a:srgbClr val="F2EF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human decides.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rot="-420000">
            <a:off x="9144000" y="1188720"/>
            <a:ext cx="2286000" cy="777240"/>
          </a:xfrm>
          <a:prstGeom prst="roundRect">
            <a:avLst>
              <a:gd name="adj" fmla="val 5882"/>
            </a:avLst>
          </a:prstGeom>
          <a:solidFill>
            <a:srgbClr val="FFFFFF">
              <a:alpha val="0"/>
            </a:srgbClr>
          </a:solidFill>
          <a:ln w="38100">
            <a:solidFill>
              <a:srgbClr val="E0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 rot="-420000">
            <a:off x="9144000" y="1188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A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SENTINELOPS · DECISION FILE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11135" y="6437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A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 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SentinelOps — Decision File</dc:title>
  <dc:subject>PptxGenJS Presentation</dc:subject>
  <dc:creator>SentinelOps</dc:creator>
  <cp:lastModifiedBy>SentinelOps</cp:lastModifiedBy>
  <cp:revision>1</cp:revision>
  <dcterms:created xsi:type="dcterms:W3CDTF">2026-06-15T19:54:06Z</dcterms:created>
  <dcterms:modified xsi:type="dcterms:W3CDTF">2026-06-15T19:54:06Z</dcterms:modified>
</cp:coreProperties>
</file>